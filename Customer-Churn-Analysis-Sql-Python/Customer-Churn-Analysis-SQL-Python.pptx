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6.png"/><Relationship Id="rId9" Type="http://schemas.openxmlformats.org/officeDocument/2006/relationships/image" Target="../media/image-3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4.png"/><Relationship Id="rId7" Type="http://schemas.openxmlformats.org/officeDocument/2006/relationships/image" Target="../media/image-9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Churn Analysis — SQL + Python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technical deep-dive into identifying, understanding, and reducing customer churn using SQL, Python, and data engineering best practices.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4952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Problem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33360" y="1421110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5741" y="161349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25741" y="201404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who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churning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33360" y="268485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5741" y="287724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25741" y="327779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why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they're churning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394860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5741" y="4140994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25741" y="4541540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Quantify the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revenue impact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churn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5212358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5741" y="5404743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Actions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25741" y="5805289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actions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improve retention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31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 Stack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38449"/>
            <a:ext cx="6450050" cy="36551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9031" y="1799927"/>
            <a:ext cx="1884216" cy="1820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95035" y="2014339"/>
            <a:ext cx="1353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895035" y="2498626"/>
            <a:ext cx="1353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(.db)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255" y="1799927"/>
            <a:ext cx="1884216" cy="18203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968258" y="2014339"/>
            <a:ext cx="1353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Language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968258" y="2498626"/>
            <a:ext cx="13538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3 (Jupyter Notebook)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9031" y="3809305"/>
            <a:ext cx="1884216" cy="21227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95035" y="4023717"/>
            <a:ext cx="1353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Libraries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895035" y="4508004"/>
            <a:ext cx="135380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sqlite3, pandas, numpy, matplotlib, seaborn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52255" y="3809305"/>
            <a:ext cx="1884216" cy="21227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968258" y="4023717"/>
            <a:ext cx="1353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Export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9968258" y="4508004"/>
            <a:ext cx="1353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CSV, HTML → PDF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354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0415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310415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512840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Demographics — name, age, gender, country, state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10415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310415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3512840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type, contract type, subscription channel, monthly charges, start/cancellation dates, churn score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310415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310415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512840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Complaint records, escalation status, CSAT score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61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Cleaning &amp; Validation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73040"/>
            <a:ext cx="5996830" cy="2586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4997" y="4668668"/>
            <a:ext cx="1360479" cy="170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Join Validation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64997" y="4070042"/>
            <a:ext cx="1360479" cy="170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Deduplication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64997" y="3477463"/>
            <a:ext cx="1360479" cy="170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 Conversion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64997" y="2878837"/>
            <a:ext cx="1360479" cy="170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Rename &amp; Drop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125812" y="169287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96702" y="172829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40059" y="1757759"/>
            <a:ext cx="379641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Renamed ambiguous columns; dropped irrelevant fields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7125812" y="272633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96702" y="276175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740059" y="2791222"/>
            <a:ext cx="379641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Converted date columns to datetime; standardized categorical values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7125812" y="405507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96702" y="409049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740059" y="4119959"/>
            <a:ext cx="379641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Fixed duplicate support records by aggregating latest complaint per customer</a:t>
            </a:r>
            <a:endParaRPr lang="en-US" sz="1850" dirty="0"/>
          </a:p>
        </p:txBody>
      </p:sp>
      <p:sp>
        <p:nvSpPr>
          <p:cNvPr id="17" name="Shape 14"/>
          <p:cNvSpPr/>
          <p:nvPr/>
        </p:nvSpPr>
        <p:spPr>
          <a:xfrm>
            <a:off x="7125812" y="538380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96702" y="541922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740059" y="5448697"/>
            <a:ext cx="379641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Validated join integrity before merging tables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8759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Engineering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661716"/>
            <a:ext cx="3053877" cy="567035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046633" y="176797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50482" y="2417762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churn_flag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2826445"/>
            <a:ext cx="2675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churn_flag (1/0) from cancellation date presence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1661716"/>
            <a:ext cx="3053976" cy="567035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89616" y="176797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093366" y="2417762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tenure_days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093366" y="2826445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tenure_days — subscription duration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3809305"/>
            <a:ext cx="3053877" cy="567035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46633" y="391556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50482" y="4565352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churn_risk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0482" y="4974034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churn_risk (Low/Medium/High) by bucketing churn_score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3904359" y="3809305"/>
            <a:ext cx="3053976" cy="567035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89616" y="391556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093366" y="4565352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Ordinal Encoding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4093366" y="4974034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Ordinal-encoded categorical fields by business priority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22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Metrics &amp; Correlations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05372"/>
            <a:ext cx="1984722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28.57%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319536"/>
            <a:ext cx="19847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Churn Rate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2882431" y="1705372"/>
            <a:ext cx="1984722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71.43%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2882431" y="2319536"/>
            <a:ext cx="19847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Retention Rate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103387" y="1705372"/>
            <a:ext cx="1984821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0.77</a:t>
            </a:r>
            <a:endParaRPr lang="en-US" sz="2950" dirty="0"/>
          </a:p>
        </p:txBody>
      </p:sp>
      <p:sp>
        <p:nvSpPr>
          <p:cNvPr id="8" name="Text 6"/>
          <p:cNvSpPr/>
          <p:nvPr/>
        </p:nvSpPr>
        <p:spPr>
          <a:xfrm>
            <a:off x="5103387" y="2319536"/>
            <a:ext cx="19848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Escalation </a:t>
            </a:r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↔</a:t>
            </a:r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Churn Correlation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103387" y="3023493"/>
            <a:ext cx="19848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positive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24443" y="1705372"/>
            <a:ext cx="1984722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19.05%</a:t>
            </a:r>
            <a:endParaRPr lang="en-US" sz="2950" dirty="0"/>
          </a:p>
        </p:txBody>
      </p:sp>
      <p:sp>
        <p:nvSpPr>
          <p:cNvPr id="11" name="Text 9"/>
          <p:cNvSpPr/>
          <p:nvPr/>
        </p:nvSpPr>
        <p:spPr>
          <a:xfrm>
            <a:off x="7324443" y="2319536"/>
            <a:ext cx="19847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Escalation Rate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545399" y="1705372"/>
            <a:ext cx="1984821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~1,452</a:t>
            </a:r>
            <a:endParaRPr lang="en-US" sz="2950" dirty="0"/>
          </a:p>
        </p:txBody>
      </p:sp>
      <p:sp>
        <p:nvSpPr>
          <p:cNvPr id="13" name="Text 11"/>
          <p:cNvSpPr/>
          <p:nvPr/>
        </p:nvSpPr>
        <p:spPr>
          <a:xfrm>
            <a:off x="9545399" y="2319536"/>
            <a:ext cx="19848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Tenure (days)</a:t>
            </a:r>
            <a:endParaRPr lang="en-US" sz="18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538537"/>
            <a:ext cx="10868745" cy="2677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43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1132"/>
            <a:ext cx="5770220" cy="326985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0042" y="2291358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13450" y="2285504"/>
            <a:ext cx="158627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 chart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513450" y="2769791"/>
            <a:ext cx="158627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churn trend over time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6794" y="2291358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950201" y="2285504"/>
            <a:ext cx="158627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 charts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950201" y="2769791"/>
            <a:ext cx="158627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 by plan type, churn by state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70042" y="4060924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13450" y="4055070"/>
            <a:ext cx="158627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Heatmap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513450" y="4539357"/>
            <a:ext cx="158627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 matrix across encoded features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06794" y="4060924"/>
            <a:ext cx="283461" cy="2834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950201" y="4055070"/>
            <a:ext cx="158627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Pair plot &amp; cat plot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9950201" y="4834632"/>
            <a:ext cx="158627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Multi-variable relationships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9057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64692"/>
            <a:ext cx="6296860" cy="113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7479" y="18791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Basic plan subscribers churn at 60%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77479" y="2287786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 higher than Standard (22%) or Premium (14%)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93628"/>
            <a:ext cx="6296860" cy="14423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3208040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Escalation 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↔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Churn: 0.77 Correlation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77479" y="3616722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who escalated complaints show strong correlation (0.77) with churning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24983"/>
            <a:ext cx="6296860" cy="14423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7479" y="48393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Regional &amp; Temporal Spikes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77479" y="52480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Karnataka had highest state-level churn; September showed a churn spike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8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Recommended Actions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58541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200977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Investigate Basic-Plan Churn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Investigate root causes of Basic-plan churn (pricing, feature gaps, service quality)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58541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5658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200977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Tiered Retention Outreach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retention outreach by churn_risk tier, starting with high-value Premium customers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00" y="435907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 Support Resolution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6832" y="536793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customer support resolution — reduce escalations by fixing recurring complaint themes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1626" y="435907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5658" y="495925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Cross-Reference Churn Spikes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85658" y="5367933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Cross-reference churn spikes with product/pricing change timelines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341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Skills Demonstrated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947" y="2920901"/>
            <a:ext cx="3402324" cy="1890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3592513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Languages &amp; Databases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4076799"/>
            <a:ext cx="35042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· SQLite · Python · Pandas ·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006852" y="3352701"/>
            <a:ext cx="3555018" cy="50800"/>
          </a:xfrm>
          <a:prstGeom prst="rect">
            <a:avLst/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2026-08-28T07:21:48Z</dcterms:created>
  <dcterms:modified xsi:type="dcterms:W3CDTF">2026-08-28T07:21:48Z</dcterms:modified>
</cp:coreProperties>
</file>